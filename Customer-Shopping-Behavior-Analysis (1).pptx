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Inter Medium"/>
      <p:regular r:id="rId201323"/>
    </p:embeddedFont>
    <p:embeddedFont>
      <p:font typeface="Inter Light"/>
      <p:regular r:id="rId201324"/>
    </p:embeddedFont>
    <p:embeddedFont>
      <p:font typeface="Inter Thin"/>
      <p:regular r:id="rId201325"/>
    </p:embeddedFont>
    <p:embeddedFont>
      <p:font typeface="Inter ExtraLight"/>
      <p:regular r:id="rId201326"/>
    </p:embeddedFont>
    <p:embeddedFont>
      <p:font typeface="Inter SemiBold"/>
      <p:regular r:id="rId201327"/>
    </p:embeddedFont>
    <p:embeddedFont>
      <p:font typeface="Inter Bold"/>
      <p:regular r:id="rId201328"/>
    </p:embeddedFont>
    <p:embeddedFont>
      <p:font typeface="Inter ExtraBold"/>
      <p:regular r:id="rId201329"/>
    </p:embeddedFont>
    <p:embeddedFont>
      <p:font typeface="Inter"/>
      <p:regular r:id="rId201330"/>
    </p:embeddedFont>
    <p:embeddedFont>
      <p:font typeface="Inter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9FD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9FD2">
              <a:alpha val="8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.png"/><Relationship Id="rId14" Type="http://schemas.openxmlformats.org/officeDocument/2006/relationships/image" Target="../media/image-6-2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.png"/><Relationship Id="rId18" Type="http://schemas.openxmlformats.org/officeDocument/2006/relationships/image" Target="../media/image-6-2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1.png"/><Relationship Id="rId22" Type="http://schemas.openxmlformats.org/officeDocument/2006/relationships/image" Target="../media/image-6-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1.png"/><Relationship Id="rId26" Type="http://schemas.openxmlformats.org/officeDocument/2006/relationships/image" Target="../media/image-6-2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1.png"/><Relationship Id="rId30" Type="http://schemas.openxmlformats.org/officeDocument/2006/relationships/image" Target="../media/image-6-2.svg"/><Relationship Id="rId31" Type="http://schemas.openxmlformats.org/officeDocument/2006/relationships/image" Target="../media/image-6-31.png"/><Relationship Id="rId32" Type="http://schemas.openxmlformats.org/officeDocument/2006/relationships/image" Target="../media/image-6-32.svg"/><Relationship Id="rId33" Type="http://schemas.openxmlformats.org/officeDocument/2006/relationships/image" Target="../media/image-6-33.png"/><Relationship Id="rId34" Type="http://schemas.openxmlformats.org/officeDocument/2006/relationships/image" Target="../media/image-6-34.svg"/><Relationship Id="rId35" Type="http://schemas.openxmlformats.org/officeDocument/2006/relationships/image" Target="../media/image-6-35.png"/><Relationship Id="rId36" Type="http://schemas.openxmlformats.org/officeDocument/2006/relationships/image" Target="../media/image-6-36.svg"/><Relationship Id="rId37" Type="http://schemas.openxmlformats.org/officeDocument/2006/relationships/image" Target="../media/image-6-33.png"/><Relationship Id="rId38" Type="http://schemas.openxmlformats.org/officeDocument/2006/relationships/image" Target="../media/image-6-34.svg"/><Relationship Id="rId39" Type="http://schemas.openxmlformats.org/officeDocument/2006/relationships/image" Target="../media/image-6-39.png"/><Relationship Id="rId40" Type="http://schemas.openxmlformats.org/officeDocument/2006/relationships/image" Target="../media/image-6-40.svg"/><Relationship Id="rId41" Type="http://schemas.openxmlformats.org/officeDocument/2006/relationships/image" Target="../media/image-6-33.png"/><Relationship Id="rId42" Type="http://schemas.openxmlformats.org/officeDocument/2006/relationships/image" Target="../media/image-6-34.svg"/><Relationship Id="rId43" Type="http://schemas.openxmlformats.org/officeDocument/2006/relationships/image" Target="../media/image-6-43.png"/><Relationship Id="rId44" Type="http://schemas.openxmlformats.org/officeDocument/2006/relationships/image" Target="../media/image-6-44.svg"/><Relationship Id="rId45" Type="http://schemas.openxmlformats.org/officeDocument/2006/relationships/slideLayout" Target="../slideLayouts/slideLayout3.xml"/><Relationship Id="rId4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0"/>
            <a:ext cx="5715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842" y="1131987"/>
            <a:ext cx="5573241" cy="28795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435968"/>
            <a:ext cx="2436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3264619"/>
            <a:ext cx="2436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 made by Leyla Gahramanova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6523"/>
            <a:ext cx="47939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Preparation Process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03028"/>
            <a:ext cx="4004965" cy="1261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3508" y="170936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2169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Load Data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476500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Import dataset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603028"/>
            <a:ext cx="4005039" cy="12610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0232" y="1709365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803651" y="2169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Explore &amp; Inspect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476500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Check structure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2610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13508" y="311221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56927" y="35728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879354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Handle missing values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2610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60232" y="311221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803651" y="35728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Engineer &amp; Export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79354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 features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9571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Overview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22215"/>
            <a:ext cx="2622724" cy="1625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283023"/>
            <a:ext cx="2224906" cy="65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</a:t>
            </a:r>
            <a:endParaRPr lang="en-US" sz="13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Purchases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3020020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Comprehensive transaction data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122215"/>
            <a:ext cx="2622724" cy="16255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2283023"/>
            <a:ext cx="2224906" cy="65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</a:t>
            </a:r>
            <a:endParaRPr lang="en-US" sz="13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Columns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3020020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demographics &amp; behavior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122215"/>
            <a:ext cx="2622724" cy="16255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2283023"/>
            <a:ext cx="2224906" cy="130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</a:t>
            </a:r>
            <a:endParaRPr lang="en-US" sz="1350" dirty="0"/>
          </a:p>
          <a:p>
            <a:pPr algn="ctr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Values</a:t>
            </a:r>
            <a:endParaRPr lang="en-US" sz="13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Only in Review Rating column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830"/>
            <a:ext cx="4376812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by Gender Analysis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96119" y="925116"/>
            <a:ext cx="8151763" cy="402134"/>
          </a:xfrm>
          <a:prstGeom prst="roundRect">
            <a:avLst>
              <a:gd name="adj" fmla="val 4297"/>
            </a:avLst>
          </a:prstGeom>
          <a:solidFill>
            <a:srgbClr val="0B9FD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237" y="1082501"/>
            <a:ext cx="143917" cy="1151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0272" y="1047378"/>
            <a:ext cx="811969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Gender-based marketing strategies could optimize revenue streams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432471"/>
            <a:ext cx="6623149" cy="3013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4551685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Male customers generate slightly higher total revenue than male customers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976"/>
            <a:ext cx="3964409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5 Products by Rating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61281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Found products with the highest average review ratings.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890" y="1890415"/>
            <a:ext cx="5706219" cy="570621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7805" y="3983087"/>
            <a:ext cx="198090" cy="19809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890" y="1890415"/>
            <a:ext cx="5706219" cy="5706219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15134" y="2913236"/>
            <a:ext cx="198090" cy="19809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8890" y="1890415"/>
            <a:ext cx="5706219" cy="5706219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72955" y="2504554"/>
            <a:ext cx="198090" cy="19809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8890" y="1890415"/>
            <a:ext cx="5706219" cy="5706219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30701" y="2913236"/>
            <a:ext cx="198090" cy="198090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8890" y="1890415"/>
            <a:ext cx="5706219" cy="5706219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08031" y="3983087"/>
            <a:ext cx="198090" cy="198090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507132" y="242508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Gloves</a:t>
            </a:r>
            <a:endParaRPr lang="en-US" sz="1150" dirty="0"/>
          </a:p>
        </p:txBody>
      </p:sp>
      <p:sp>
        <p:nvSpPr>
          <p:cNvPr id="15" name="Text 3"/>
          <p:cNvSpPr/>
          <p:nvPr/>
        </p:nvSpPr>
        <p:spPr>
          <a:xfrm>
            <a:off x="496119" y="2666777"/>
            <a:ext cx="148947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3.86</a:t>
            </a:r>
            <a:endParaRPr lang="en-US" sz="900" dirty="0"/>
          </a:p>
        </p:txBody>
      </p:sp>
      <p:sp>
        <p:nvSpPr>
          <p:cNvPr id="16" name="Text 4"/>
          <p:cNvSpPr/>
          <p:nvPr/>
        </p:nvSpPr>
        <p:spPr>
          <a:xfrm>
            <a:off x="2172667" y="156916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Sandals</a:t>
            </a:r>
            <a:endParaRPr lang="en-US" sz="1150" dirty="0"/>
          </a:p>
        </p:txBody>
      </p:sp>
      <p:sp>
        <p:nvSpPr>
          <p:cNvPr id="17" name="Text 5"/>
          <p:cNvSpPr/>
          <p:nvPr/>
        </p:nvSpPr>
        <p:spPr>
          <a:xfrm>
            <a:off x="2161654" y="1810866"/>
            <a:ext cx="148947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3.84</a:t>
            </a:r>
            <a:endParaRPr lang="en-US" sz="900" dirty="0"/>
          </a:p>
        </p:txBody>
      </p:sp>
      <p:sp>
        <p:nvSpPr>
          <p:cNvPr id="18" name="Text 6"/>
          <p:cNvSpPr/>
          <p:nvPr/>
        </p:nvSpPr>
        <p:spPr>
          <a:xfrm>
            <a:off x="3838203" y="124226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Boots</a:t>
            </a:r>
            <a:endParaRPr lang="en-US" sz="1150" dirty="0"/>
          </a:p>
        </p:txBody>
      </p:sp>
      <p:sp>
        <p:nvSpPr>
          <p:cNvPr id="19" name="Text 7"/>
          <p:cNvSpPr/>
          <p:nvPr/>
        </p:nvSpPr>
        <p:spPr>
          <a:xfrm>
            <a:off x="3827190" y="1483965"/>
            <a:ext cx="148954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3.82</a:t>
            </a:r>
            <a:endParaRPr lang="en-US" sz="900" dirty="0"/>
          </a:p>
        </p:txBody>
      </p:sp>
      <p:sp>
        <p:nvSpPr>
          <p:cNvPr id="20" name="Text 8"/>
          <p:cNvSpPr/>
          <p:nvPr/>
        </p:nvSpPr>
        <p:spPr>
          <a:xfrm>
            <a:off x="5503813" y="156916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Hat</a:t>
            </a:r>
            <a:endParaRPr lang="en-US" sz="1150" dirty="0"/>
          </a:p>
        </p:txBody>
      </p:sp>
      <p:sp>
        <p:nvSpPr>
          <p:cNvPr id="21" name="Text 9"/>
          <p:cNvSpPr/>
          <p:nvPr/>
        </p:nvSpPr>
        <p:spPr>
          <a:xfrm>
            <a:off x="5492800" y="1810866"/>
            <a:ext cx="148947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3.80</a:t>
            </a:r>
            <a:endParaRPr lang="en-US" sz="900" dirty="0"/>
          </a:p>
        </p:txBody>
      </p:sp>
      <p:sp>
        <p:nvSpPr>
          <p:cNvPr id="22" name="Text 10"/>
          <p:cNvSpPr/>
          <p:nvPr/>
        </p:nvSpPr>
        <p:spPr>
          <a:xfrm>
            <a:off x="7169348" y="242508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Skirt</a:t>
            </a:r>
            <a:endParaRPr lang="en-US" sz="1150" dirty="0"/>
          </a:p>
        </p:txBody>
      </p:sp>
      <p:sp>
        <p:nvSpPr>
          <p:cNvPr id="23" name="Text 11"/>
          <p:cNvSpPr/>
          <p:nvPr/>
        </p:nvSpPr>
        <p:spPr>
          <a:xfrm>
            <a:off x="7158335" y="2666777"/>
            <a:ext cx="148954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3.78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066"/>
            <a:ext cx="4936480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Products by Order Volume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26096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Clothing &amp; Accessories lead in order volume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25017"/>
            <a:ext cx="1959471" cy="105772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2742" y="1434629"/>
            <a:ext cx="146149" cy="1461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181228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Blouse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32222" y="2065437"/>
            <a:ext cx="1687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171 orders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0216" y="1325017"/>
            <a:ext cx="1959471" cy="1057721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6840" y="1434629"/>
            <a:ext cx="146149" cy="14614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778472" y="181228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Pants</a:t>
            </a:r>
            <a:endParaRPr lang="en-US" sz="1150" dirty="0"/>
          </a:p>
        </p:txBody>
      </p:sp>
      <p:sp>
        <p:nvSpPr>
          <p:cNvPr id="11" name="Text 5"/>
          <p:cNvSpPr/>
          <p:nvPr/>
        </p:nvSpPr>
        <p:spPr>
          <a:xfrm>
            <a:off x="2696319" y="2065437"/>
            <a:ext cx="1687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171 orders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4313" y="1325017"/>
            <a:ext cx="1959471" cy="1057721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30937" y="1434629"/>
            <a:ext cx="146149" cy="14614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842570" y="181228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Shirt</a:t>
            </a:r>
            <a:endParaRPr lang="en-US" sz="1150" dirty="0"/>
          </a:p>
        </p:txBody>
      </p:sp>
      <p:sp>
        <p:nvSpPr>
          <p:cNvPr id="15" name="Text 7"/>
          <p:cNvSpPr/>
          <p:nvPr/>
        </p:nvSpPr>
        <p:spPr>
          <a:xfrm>
            <a:off x="4760416" y="2065437"/>
            <a:ext cx="1687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169 orders</a:t>
            </a:r>
            <a:endParaRPr lang="en-US" sz="9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88410" y="1325017"/>
            <a:ext cx="1959471" cy="1057721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95034" y="1434629"/>
            <a:ext cx="146149" cy="146149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906667" y="181228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Jewelry</a:t>
            </a:r>
            <a:endParaRPr lang="en-US" sz="1150" dirty="0"/>
          </a:p>
        </p:txBody>
      </p:sp>
      <p:sp>
        <p:nvSpPr>
          <p:cNvPr id="19" name="Text 9"/>
          <p:cNvSpPr/>
          <p:nvPr/>
        </p:nvSpPr>
        <p:spPr>
          <a:xfrm>
            <a:off x="6824514" y="2065437"/>
            <a:ext cx="1687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171 orders</a:t>
            </a:r>
            <a:endParaRPr lang="en-US" sz="9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19" y="2487364"/>
            <a:ext cx="1959471" cy="1057721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02742" y="2596976"/>
            <a:ext cx="146149" cy="146149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714375" y="2974628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Sunglasses</a:t>
            </a:r>
            <a:endParaRPr lang="en-US" sz="1150" dirty="0"/>
          </a:p>
        </p:txBody>
      </p:sp>
      <p:sp>
        <p:nvSpPr>
          <p:cNvPr id="23" name="Text 11"/>
          <p:cNvSpPr/>
          <p:nvPr/>
        </p:nvSpPr>
        <p:spPr>
          <a:xfrm>
            <a:off x="632222" y="3227784"/>
            <a:ext cx="1687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161 orders</a:t>
            </a:r>
            <a:endParaRPr lang="en-US" sz="95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560216" y="2487364"/>
            <a:ext cx="1959471" cy="1057721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466840" y="2596976"/>
            <a:ext cx="146149" cy="146149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2778472" y="2974628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Belt</a:t>
            </a:r>
            <a:endParaRPr lang="en-US" sz="1150" dirty="0"/>
          </a:p>
        </p:txBody>
      </p:sp>
      <p:sp>
        <p:nvSpPr>
          <p:cNvPr id="27" name="Text 13"/>
          <p:cNvSpPr/>
          <p:nvPr/>
        </p:nvSpPr>
        <p:spPr>
          <a:xfrm>
            <a:off x="2696319" y="3227784"/>
            <a:ext cx="1687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161 orders</a:t>
            </a:r>
            <a:endParaRPr lang="en-US" sz="95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24313" y="2487364"/>
            <a:ext cx="1959471" cy="1057721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30937" y="2596976"/>
            <a:ext cx="146149" cy="146149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4842570" y="2974628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Jacket</a:t>
            </a:r>
            <a:endParaRPr lang="en-US" sz="1150" dirty="0"/>
          </a:p>
        </p:txBody>
      </p:sp>
      <p:sp>
        <p:nvSpPr>
          <p:cNvPr id="31" name="Text 15"/>
          <p:cNvSpPr/>
          <p:nvPr/>
        </p:nvSpPr>
        <p:spPr>
          <a:xfrm>
            <a:off x="4760416" y="3227784"/>
            <a:ext cx="1687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163 orders</a:t>
            </a:r>
            <a:endParaRPr lang="en-US" sz="950" dirty="0"/>
          </a:p>
        </p:txBody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688410" y="2487364"/>
            <a:ext cx="1959471" cy="1057721"/>
          </a:xfrm>
          <a:prstGeom prst="rect">
            <a:avLst/>
          </a:prstGeom>
        </p:spPr>
      </p:pic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595034" y="2596976"/>
            <a:ext cx="146149" cy="146149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6906667" y="2974628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Coat</a:t>
            </a:r>
            <a:endParaRPr lang="en-US" sz="1150" dirty="0"/>
          </a:p>
        </p:txBody>
      </p:sp>
      <p:sp>
        <p:nvSpPr>
          <p:cNvPr id="35" name="Text 17"/>
          <p:cNvSpPr/>
          <p:nvPr/>
        </p:nvSpPr>
        <p:spPr>
          <a:xfrm>
            <a:off x="6824514" y="3227784"/>
            <a:ext cx="1687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161 orders</a:t>
            </a:r>
            <a:endParaRPr lang="en-US" sz="950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96119" y="3649712"/>
            <a:ext cx="2647504" cy="1057721"/>
          </a:xfrm>
          <a:prstGeom prst="rect">
            <a:avLst/>
          </a:prstGeom>
        </p:spPr>
      </p:pic>
      <p:pic>
        <p:nvPicPr>
          <p:cNvPr id="3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746758" y="3759324"/>
            <a:ext cx="146149" cy="146149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1058391" y="413697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Sandals</a:t>
            </a:r>
            <a:endParaRPr lang="en-US" sz="1150" dirty="0"/>
          </a:p>
        </p:txBody>
      </p:sp>
      <p:sp>
        <p:nvSpPr>
          <p:cNvPr id="39" name="Text 19"/>
          <p:cNvSpPr/>
          <p:nvPr/>
        </p:nvSpPr>
        <p:spPr>
          <a:xfrm>
            <a:off x="632222" y="4390132"/>
            <a:ext cx="23752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160 orders</a:t>
            </a:r>
            <a:endParaRPr lang="en-US" sz="950" dirty="0"/>
          </a:p>
        </p:txBody>
      </p:sp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248248" y="3649712"/>
            <a:ext cx="2647504" cy="1057721"/>
          </a:xfrm>
          <a:prstGeom prst="rect">
            <a:avLst/>
          </a:prstGeom>
        </p:spPr>
      </p:pic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498888" y="3759324"/>
            <a:ext cx="146149" cy="146149"/>
          </a:xfrm>
          <a:prstGeom prst="rect">
            <a:avLst/>
          </a:prstGeom>
        </p:spPr>
      </p:pic>
      <p:sp>
        <p:nvSpPr>
          <p:cNvPr id="42" name="Text 20"/>
          <p:cNvSpPr/>
          <p:nvPr/>
        </p:nvSpPr>
        <p:spPr>
          <a:xfrm>
            <a:off x="3810521" y="413697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Shoes</a:t>
            </a:r>
            <a:endParaRPr lang="en-US" sz="1150" dirty="0"/>
          </a:p>
        </p:txBody>
      </p:sp>
      <p:sp>
        <p:nvSpPr>
          <p:cNvPr id="43" name="Text 21"/>
          <p:cNvSpPr/>
          <p:nvPr/>
        </p:nvSpPr>
        <p:spPr>
          <a:xfrm>
            <a:off x="3384352" y="4390132"/>
            <a:ext cx="23752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150 orders</a:t>
            </a:r>
            <a:endParaRPr lang="en-US" sz="950" dirty="0"/>
          </a:p>
        </p:txBody>
      </p:sp>
      <p:pic>
        <p:nvPicPr>
          <p:cNvPr id="44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000378" y="3649712"/>
            <a:ext cx="2647504" cy="1057721"/>
          </a:xfrm>
          <a:prstGeom prst="rect">
            <a:avLst/>
          </a:prstGeom>
        </p:spPr>
      </p:pic>
      <p:pic>
        <p:nvPicPr>
          <p:cNvPr id="4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7251018" y="3759324"/>
            <a:ext cx="146149" cy="146149"/>
          </a:xfrm>
          <a:prstGeom prst="rect">
            <a:avLst/>
          </a:prstGeom>
        </p:spPr>
      </p:pic>
      <p:sp>
        <p:nvSpPr>
          <p:cNvPr id="46" name="Text 22"/>
          <p:cNvSpPr/>
          <p:nvPr/>
        </p:nvSpPr>
        <p:spPr>
          <a:xfrm>
            <a:off x="6562651" y="413697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Sneakers</a:t>
            </a:r>
            <a:endParaRPr lang="en-US" sz="1150" dirty="0"/>
          </a:p>
        </p:txBody>
      </p:sp>
      <p:sp>
        <p:nvSpPr>
          <p:cNvPr id="47" name="Text 23"/>
          <p:cNvSpPr/>
          <p:nvPr/>
        </p:nvSpPr>
        <p:spPr>
          <a:xfrm>
            <a:off x="6136481" y="4390132"/>
            <a:ext cx="23752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145 orders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43819"/>
            <a:ext cx="50149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High-Value Discount Users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7032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 using discounts while spending above average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856607"/>
            <a:ext cx="4004965" cy="5430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2311" y="3017416"/>
            <a:ext cx="21487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839 customers identified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856607"/>
            <a:ext cx="4005039" cy="5430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8960" y="3017416"/>
            <a:ext cx="21490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Average spending: $80.15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545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Subscription Impact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923776" y="2193354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7.4%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458" y="1307381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637" y="36110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Higher Spend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91752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spend difference between subscribers ($62.45 avg) and non-subscribers ($58.12 avg)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0090" y="2193354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27%</a:t>
            </a:r>
            <a:endParaRPr lang="en-US" sz="2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72" y="1307381"/>
            <a:ext cx="2126456" cy="2126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85952" y="36110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Share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391752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From subscription customers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76405" y="2193354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65%</a:t>
            </a:r>
            <a:endParaRPr lang="en-US" sz="2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086" y="1307381"/>
            <a:ext cx="2126456" cy="2126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2266" y="36110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Loyalty Rate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8747" y="391752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Repeat purchase rate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9135"/>
            <a:ext cx="53912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Shipping Preferences Impact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85639"/>
            <a:ext cx="8608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Compared average purchase amounts between Standard and Express shipping.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28552"/>
            <a:ext cx="8151763" cy="30558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271"/>
            <a:ext cx="46319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5877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 80%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|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Returning 18%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|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N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ew 2%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45059"/>
            <a:ext cx="8127950" cy="3166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34827"/>
            <a:ext cx="418154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Metrics Summary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890415"/>
            <a:ext cx="1479724" cy="10489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66877" y="2032174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u="sng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066877" y="2310333"/>
            <a:ext cx="119620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$233,081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6601" y="1890415"/>
            <a:ext cx="1479724" cy="10489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88360" y="2032174"/>
            <a:ext cx="1196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u="sng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Average Purchase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688360" y="2531790"/>
            <a:ext cx="119620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$59.76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8083" y="1890415"/>
            <a:ext cx="1479724" cy="10489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09842" y="2032174"/>
            <a:ext cx="1196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u="sng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309842" y="2531790"/>
            <a:ext cx="119620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081114"/>
            <a:ext cx="4722688" cy="8274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66877" y="3222873"/>
            <a:ext cx="18658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u="sng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Product Category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066877" y="3501033"/>
            <a:ext cx="2418755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Clothing &amp; Accessories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9706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Insights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223567"/>
            <a:ext cx="2622724" cy="1422871"/>
          </a:xfrm>
          <a:prstGeom prst="roundRect">
            <a:avLst>
              <a:gd name="adj" fmla="val 1495"/>
            </a:avLst>
          </a:prstGeom>
          <a:solidFill>
            <a:srgbClr val="0B9FD2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2365325"/>
            <a:ext cx="2339206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80%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637877" y="3061767"/>
            <a:ext cx="1877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of customers are loyal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60601" y="2223567"/>
            <a:ext cx="2622724" cy="1422871"/>
          </a:xfrm>
          <a:prstGeom prst="roundRect">
            <a:avLst>
              <a:gd name="adj" fmla="val 1495"/>
            </a:avLst>
          </a:prstGeom>
          <a:solidFill>
            <a:srgbClr val="0B9FD2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2365325"/>
            <a:ext cx="2339206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2.1×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3402360" y="3061767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Male customers spend more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25083" y="2223567"/>
            <a:ext cx="2622724" cy="1422871"/>
          </a:xfrm>
          <a:prstGeom prst="roundRect">
            <a:avLst>
              <a:gd name="adj" fmla="val 1495"/>
            </a:avLst>
          </a:prstGeom>
          <a:solidFill>
            <a:srgbClr val="0B9FD2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2365325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High-value discount users are prime targets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4767"/>
            <a:ext cx="53190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Strategic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708720" y="2075631"/>
            <a:ext cx="3792289" cy="141759"/>
          </a:xfrm>
          <a:prstGeom prst="roundRect">
            <a:avLst>
              <a:gd name="adj" fmla="val 15001"/>
            </a:avLst>
          </a:prstGeom>
          <a:solidFill>
            <a:srgbClr val="0B9FD2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1933835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0B9FD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456" y="2040173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500908"/>
            <a:ext cx="25370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Focus premium offers on men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855443" y="1863030"/>
            <a:ext cx="3792364" cy="141759"/>
          </a:xfrm>
          <a:prstGeom prst="roundRect">
            <a:avLst>
              <a:gd name="adj" fmla="val 15001"/>
            </a:avLst>
          </a:prstGeom>
          <a:solidFill>
            <a:srgbClr val="0B9FD2"/>
          </a:solidFill>
          <a:ln/>
        </p:spPr>
      </p:sp>
      <p:sp>
        <p:nvSpPr>
          <p:cNvPr id="8" name="Shape 5"/>
          <p:cNvSpPr/>
          <p:nvPr/>
        </p:nvSpPr>
        <p:spPr>
          <a:xfrm>
            <a:off x="4642842" y="1721234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0B9FD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180" y="1827572"/>
            <a:ext cx="212601" cy="2126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84601" y="2288307"/>
            <a:ext cx="24343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Reward high-value shoppers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08720" y="3360241"/>
            <a:ext cx="3792289" cy="141759"/>
          </a:xfrm>
          <a:prstGeom prst="roundRect">
            <a:avLst>
              <a:gd name="adj" fmla="val 15001"/>
            </a:avLst>
          </a:prstGeom>
          <a:solidFill>
            <a:srgbClr val="0B9FD2"/>
          </a:solidFill>
          <a:ln/>
        </p:spPr>
      </p:sp>
      <p:sp>
        <p:nvSpPr>
          <p:cNvPr id="12" name="Shape 8"/>
          <p:cNvSpPr/>
          <p:nvPr/>
        </p:nvSpPr>
        <p:spPr>
          <a:xfrm>
            <a:off x="496119" y="3218445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0B9FD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456" y="3324783"/>
            <a:ext cx="212601" cy="2126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7877" y="3785518"/>
            <a:ext cx="21387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Push top-rated products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855443" y="3147640"/>
            <a:ext cx="3792364" cy="141759"/>
          </a:xfrm>
          <a:prstGeom prst="roundRect">
            <a:avLst>
              <a:gd name="adj" fmla="val 15001"/>
            </a:avLst>
          </a:prstGeom>
          <a:solidFill>
            <a:srgbClr val="0B9FD2"/>
          </a:solidFill>
          <a:ln/>
        </p:spPr>
      </p:sp>
      <p:sp>
        <p:nvSpPr>
          <p:cNvPr id="16" name="Shape 11"/>
          <p:cNvSpPr/>
          <p:nvPr/>
        </p:nvSpPr>
        <p:spPr>
          <a:xfrm>
            <a:off x="4642842" y="3005844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0B9FD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9180" y="3112182"/>
            <a:ext cx="212601" cy="2126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84601" y="3572917"/>
            <a:ext cx="19283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Drive express shipping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304" y="221113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Thanks for watching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457352" y="27108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Leyla Gahramanova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2026-06-26T11:57:31Z</dcterms:created>
  <dcterms:modified xsi:type="dcterms:W3CDTF">2026-06-26T11:57:31Z</dcterms:modified>
</cp:coreProperties>
</file>